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8EDF0"/>
                </a:solidFill>
                <a:latin typeface="Arial"/>
              </a:defRPr>
            </a:pPr>
            <a:r>
              <a:t>东方STG关卡事件系统重构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D4AA"/>
                </a:solidFill>
                <a:latin typeface="Arial"/>
              </a:defRPr>
            </a:pPr>
            <a:r>
              <a:t>StageDirector — 状态驱动的关卡调度器架构设计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49039"/>
            <a:ext cx="22860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8A9E"/>
                </a:solidFill>
                <a:latin typeface="Arial"/>
              </a:defRPr>
            </a:pPr>
            <a:r>
              <a:t>C++17 · SDL2 · 多播委托模式 · 13项验收标准全通过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5029200"/>
            <a:ext cx="1188720" cy="11887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WHY REFACTOR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0"/>
                </a:solidFill>
                <a:latin typeface="Arial"/>
              </a:defRPr>
            </a:pPr>
            <a:r>
              <a:t>Game.cpp 的 Update 函数越来越臃肿，每次加新关卡逻辑都要改主循环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Arial"/>
              </a:defRPr>
            </a:pPr>
            <a:r>
              <a:t>重构前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· 阶段切换、道具生成、胜负判定全堆在 Game::Update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· 每加一个新关卡事件要改主循环 switch-case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· 对话、弹幕、时间线逻辑互相耦合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· 硬编码的 currentPhaseIndex 分支判断分散各处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重构后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· 事件独立封装，新增事件不改主循环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84831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· 时间/血量/阶段三种触发条件并行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323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· 暂停冻结：DIALOGUE 时不推进战斗计时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797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· 一对多广播：一个事件多个监听者同时响应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10881360" cy="265176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五条核心设计原则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89120"/>
            <a:ext cx="3291840" cy="731520"/>
          </a:xfrm>
          <a:prstGeom prst="roundRect">
            <a:avLst/>
          </a:prstGeom>
          <a:solidFill>
            <a:srgbClr val="1A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48056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DF0"/>
                </a:solidFill>
                <a:latin typeface="Arial"/>
              </a:defRPr>
            </a:pPr>
            <a:r>
              <a:t>01 先看状态再看条件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548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仅 PLAYING 时推进事件，非战斗状态冻结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389120"/>
            <a:ext cx="3291840" cy="731520"/>
          </a:xfrm>
          <a:prstGeom prst="roundRect">
            <a:avLst/>
          </a:prstGeom>
          <a:solidFill>
            <a:srgbClr val="1A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48056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DF0"/>
                </a:solidFill>
                <a:latin typeface="Arial"/>
              </a:defRPr>
            </a:pPr>
            <a:r>
              <a:t>02 时间只是条件之一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7548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stageTime / bossHp / phaseIndex 均可触发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389120"/>
            <a:ext cx="3291840" cy="731520"/>
          </a:xfrm>
          <a:prstGeom prst="roundRect">
            <a:avLst/>
          </a:prstGeom>
          <a:solidFill>
            <a:srgbClr val="1A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448056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DF0"/>
                </a:solidFill>
                <a:latin typeface="Arial"/>
              </a:defRPr>
            </a:pPr>
            <a:r>
              <a:t>03 事件独立封装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7548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每个事件自包含触发条件+行为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303520"/>
            <a:ext cx="3291840" cy="731520"/>
          </a:xfrm>
          <a:prstGeom prst="roundRect">
            <a:avLst/>
          </a:prstGeom>
          <a:solidFill>
            <a:srgbClr val="1A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39496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DF0"/>
                </a:solidFill>
                <a:latin typeface="Arial"/>
              </a:defRPr>
            </a:pPr>
            <a:r>
              <a:t>04 一次触发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692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triggered 标志防止重复执行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5303520"/>
            <a:ext cx="3291840" cy="731520"/>
          </a:xfrm>
          <a:prstGeom prst="roundRect">
            <a:avLst/>
          </a:prstGeom>
          <a:solidFill>
            <a:srgbClr val="1A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539496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DF0"/>
                </a:solidFill>
                <a:latin typeface="Arial"/>
              </a:defRPr>
            </a:pPr>
            <a:r>
              <a:t>05 暂停冻结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6692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DIALOGUE/GAME_OVER/VICTORY 冻结 stageTime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0"/>
                </a:solidFill>
                <a:latin typeface="Arial"/>
              </a:defRPr>
            </a:pPr>
            <a:r>
              <a:t>三件套：GameContext 传数据，StageEvent 封装行为，StageDirector 调度时间线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383280" cy="329184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338328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GameContext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只读快照 / 信号总线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state · stageTime · deltaTime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237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bossHp · phaseIndex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529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dialogueRequested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821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itemSpawnRequested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112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finishRequested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383280" cy="329184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38328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08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StageEvent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82880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抽象基类 + 7 派生类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1945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ShouldTrigger(ctx) const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5237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Execute(ctx) + Broadcast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529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isFinished() const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1821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Bind(listener) 链式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5112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一对多委托监听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371600"/>
            <a:ext cx="3383280" cy="329184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1371600"/>
            <a:ext cx="338328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9" y="1508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StageDirector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182880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时间线调度器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21945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Update(dt, ctx)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25237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仅 PLAYING 推进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28529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OnStateChanged()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31821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Reset() · AddEvent()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35112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遍历 → 触发 → 移除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029200"/>
            <a:ext cx="10881360" cy="137160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6636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数据流向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Arial"/>
              </a:defRPr>
            </a:pPr>
            <a:r>
              <a:t>Game::Update → 构建 GameContext → stageDirector.Update(dt, ctx) → 事件 ShouldTrigger → Execute(Broadcast) → ctx 信号字段 → Game 读取响应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DELEGATE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DF0"/>
                </a:solidFill>
                <a:latin typeface="Arial"/>
              </a:defRPr>
            </a:pPr>
            <a:r>
              <a:t>多播委托：一个事件广播，多个监听者同时响应 — 比单一回调更灵活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029200" cy="219456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UE 委托 ↔ C++ 实现对照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DECLARE_MULTICAST_DELEGATE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74519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std::vector&lt;std::function&lt;void(...)&gt;&gt;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85415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AddDynamic(this, &amp;Actor::OnEvt)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85415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event-&gt;Bind([](GameContext&amp; ctx) { ... 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963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Broadcast()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49631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Execute() 内遍历 listeners 逐个调用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0720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触发条件判断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0720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ShouldTrigger(ctx) const → 条件满足才广播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181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一次注册，多次响应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810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链式 .Bind(A).Bind(B).Bind(C)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371600"/>
            <a:ext cx="5577840" cy="2194560"/>
          </a:xfrm>
          <a:prstGeom prst="roundRect">
            <a:avLst/>
          </a:prstGeom>
          <a:solidFill>
            <a:srgbClr val="1A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50876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实际用法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874519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auto hp2000 = std::make_unique&lt;HpThresholdEvent&gt;(2000.0f);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039112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172200" y="2203703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hp2000-&gt;Bind([](GameContext&amp; ctx)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368296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    ctx.dialogueRequested = true;     // 监听者1：对话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532887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697479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.Bind([](GameContext&amp; ctx)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862072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    ctx.itemSpawnRequested = true;    // 监听者2：掉道具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026663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    ctx.itemSpawnX = 960; ctx.itemSpawnY = 400;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191256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355848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172200" y="3520439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stageDirector.AddEvent(std::move(hp2000));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840480"/>
            <a:ext cx="10881360" cy="246888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023360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Execute 执行流程：两层行为叠加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4348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1. 自动信号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4348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事件类自身写 ctx 信号字段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6634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SpawnItemEvent → ctx.itemSpawnRequested + x/y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0749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2. 广播监听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0749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遍历所有 Bind 的 std::function 逐个调用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303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每个 listener 独立执行，互不干扰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0"/>
                </a:solidFill>
                <a:latin typeface="Arial"/>
              </a:defRPr>
            </a:pPr>
            <a:r>
              <a:t>▸ 优势：新增监听者只需 .Bind()，不改事件类本身。同一 HpThresholdEvent，不同关卡绑定不同监听者组合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EVENT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DF0"/>
                </a:solidFill>
                <a:latin typeface="Arial"/>
              </a:defRPr>
            </a:pPr>
            <a:r>
              <a:t>7 种事件类型覆盖关卡全部调度需求，指南 §4 建议 + 胜负分离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94960" cy="64008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45720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98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onsolas"/>
              </a:defRPr>
            </a:pPr>
            <a:r>
              <a:t>TimeEvent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3898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触发: stageTime &gt;=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3898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—（纯广播）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733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定时触发，5s/10s/15s 不同行为由 Bind 注入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94960" cy="64008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45720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898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onsolas"/>
              </a:defRPr>
            </a:pPr>
            <a:r>
              <a:t>HpThresholdEvent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3898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触发: bossHp &lt;= 阈值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13898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—（纯广播）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733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Boss 血量低于 4000/2000 时触发符卡宣言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075688"/>
            <a:ext cx="5394960" cy="64008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075688"/>
            <a:ext cx="45720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1396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onsolas"/>
              </a:defRPr>
            </a:pPr>
            <a:r>
              <a:t>PhaseChangeEvent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13969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触发: phaseIndex &gt;=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13969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—（纯广播）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423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阶段切换时重置弹幕模式、播放特效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075688"/>
            <a:ext cx="5394960" cy="64008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075688"/>
            <a:ext cx="45720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1396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onsolas"/>
              </a:defRPr>
            </a:pPr>
            <a:r>
              <a:t>DialogueEvent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13969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触发: 立即触发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213969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dialogueRequested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23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切换至 DIALOGUE 状态，MarkFinished 标记结束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2825496"/>
            <a:ext cx="5394960" cy="64008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2825496"/>
            <a:ext cx="45720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28895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onsolas"/>
              </a:defRPr>
            </a:pPr>
            <a:r>
              <a:t>SpawnItemEvent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288950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触发: 立即触发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288950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itemSpawn+X/Y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1729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指定坐标生成 PowerUp，Game 端读取创建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2825496"/>
            <a:ext cx="5394960" cy="64008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2825496"/>
            <a:ext cx="45720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8895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onsolas"/>
              </a:defRPr>
            </a:pPr>
            <a:r>
              <a:t>VictoryEvent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88950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触发: 立即触发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288950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finish+isVictory=true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1729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胜利结算，停止 BGM、切换 VICTORY 状态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3575304"/>
            <a:ext cx="5394960" cy="64008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3575304"/>
            <a:ext cx="45720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36393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onsolas"/>
              </a:defRPr>
            </a:pPr>
            <a:r>
              <a:t>DefeatEvent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36393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触发: 立即触发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363931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finish+isVictory=false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3922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失败结算，切换 GAME_OVER 状态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394960"/>
            <a:ext cx="10881360" cy="100584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53212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0"/>
                </a:solidFill>
                <a:latin typeface="Arial"/>
              </a:defRPr>
            </a:pPr>
            <a:r>
              <a:t>▸ 3 种触发方式：时间 / 血量 / 阶段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80644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0"/>
                </a:solidFill>
                <a:latin typeface="Arial"/>
              </a:defRPr>
            </a:pPr>
            <a:r>
              <a:t>▸ 4 种自动信号：dialogue / itemSpawn / finish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6080759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0"/>
                </a:solidFill>
                <a:latin typeface="Arial"/>
              </a:defRPr>
            </a:pPr>
            <a:r>
              <a:t>▸ 7 个事件类 = 1 基类 + 6 派生 + 胜负分离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DF0"/>
                </a:solidFill>
                <a:latin typeface="Arial"/>
              </a:defRPr>
            </a:pPr>
            <a:r>
              <a:t>每帧运行时事件管线：从 Game::Update 到 StageDirector 再到信号响应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3856" y="1965960"/>
            <a:ext cx="18288" cy="91440"/>
          </a:xfrm>
          <a:prstGeom prst="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DF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7160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8A9E"/>
                </a:solidFill>
                <a:latin typeface="Arial"/>
              </a:defRPr>
            </a:pPr>
            <a:r>
              <a:t>更新对象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player / bullets / enemies / powerUps Update + 碰撞检测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3856" y="2743200"/>
            <a:ext cx="18288" cy="91440"/>
          </a:xfrm>
          <a:prstGeom prst="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DF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4884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Arial"/>
              </a:defRPr>
            </a:pPr>
            <a:r>
              <a:t>CheckEnemyPhase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23160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检测 HP 阈值 → 推进 phaseIndex → 同步导演(PhaseChangeEvent)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3856" y="3520439"/>
            <a:ext cx="18288" cy="91440"/>
          </a:xfrm>
          <a:prstGeom prst="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546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DF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926079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8A9E"/>
                </a:solidFill>
                <a:latin typeface="Arial"/>
              </a:defRPr>
            </a:pPr>
            <a:r>
              <a:t>构建 GameContext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399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ctx.state / bossHp / phaseIndex 快照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3856" y="4297679"/>
            <a:ext cx="18288" cy="91440"/>
          </a:xfrm>
          <a:prstGeom prst="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319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DF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03319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stageDirector.Update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977639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仅 PLAYING 推进 stageTime → 遍历事件 → ShouldTrigger → Execute(Broadcast)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DF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48056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Arial"/>
              </a:defRPr>
            </a:pPr>
            <a:r>
              <a:t>响应信号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754880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dialogueRequested → DIALOGUE / itemSpawn → PowerUp / finish → VICTORY|GAME_OVER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280160"/>
            <a:ext cx="5212080" cy="34747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141732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核心守卫：暂停冻结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783080"/>
            <a:ext cx="4663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void StageDirector::Update(dt, ctx)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965960"/>
            <a:ext cx="4663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    ctx.deltaTime = dt;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148840"/>
            <a:ext cx="4663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949440" y="2331720"/>
            <a:ext cx="4663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    // ★ 关键守卫：非 PLAYING 不推进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514600"/>
            <a:ext cx="4663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DF0"/>
                </a:solidFill>
                <a:latin typeface="Consolas"/>
              </a:defRPr>
            </a:pPr>
            <a:r>
              <a:t>    if (ctx.state != State::PLAYING)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697480"/>
            <a:ext cx="4663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onsolas"/>
              </a:defRPr>
            </a:pPr>
            <a:r>
              <a:t>        return;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880360"/>
            <a:ext cx="4663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949440" y="3063240"/>
            <a:ext cx="4663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    stageTime += dt;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246120"/>
            <a:ext cx="4663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    ctx.stageTime = stageTime;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429000"/>
            <a:ext cx="4663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    // ... 遍历事件触发 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611880"/>
            <a:ext cx="4663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03520"/>
            <a:ext cx="10881360" cy="109728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状态切换：Update 末尾检测 oldState != CurrentState → OnStateChanged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76072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进入 PLAYING → Reset() 清空事件+时间归零  |  退出 PLAYING → stageTime 冻结（Update 守卫拦截）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0350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DIALOGUE 恢复 PLAYING → 不 Reset，继续原有时间线  |  GAME_OVER → 续关/返回菜单由 Game 处理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0"/>
                </a:solidFill>
                <a:latin typeface="Arial"/>
              </a:defRPr>
            </a:pPr>
            <a:r>
              <a:t>指南 §8 全部 5 项验收标准 PASS，额外指南 §1-§7 共 13 项全通过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881360" cy="45720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13 / 13 项全通过      编译状态：MSBuild x64 Debug — 0 错误 0 警告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3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§8.1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39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关卡事件仅在正确状态运行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48839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Update 第一行 if(state != PLAYING) return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68879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68879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1459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§8.2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14599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暂停后事件计时冻结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43199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DIALOGUE 期间不推进 stageTime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63239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063239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10895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§8.3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08959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至少支持 3 种触发方式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337559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Time / HpThreshold / PhaseChange = 3种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57600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7033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§8.4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70332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Game.cpp 不再堆硬编码判断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3192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事件逻辑在 StageEvent 子类 + lambdas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251960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251960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2976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§8.5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29768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事件系统可独立扩展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52628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新增子类 + SetupStageEvents 注册即可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46320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846320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§2.1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89204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先看状态再看条件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12064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Update 入口状态守卫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440680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440680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4864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§2.5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48640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暂停冻结原则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71500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非 PLAYING 直接 return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1874519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1874519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192023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§3.1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1920239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GameContext 含 deltaTime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2148839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已补充 float deltaTime 字段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2468879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2468879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251459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§3.2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2514599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ShouldTrigger 为 const 查询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2743199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基类+所有派生类均已 const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3063239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3063239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310895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§4.6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3108959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胜负事件分离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3337559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VictoryEvent + DefeatEvent 独立类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3657600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3657600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37033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§5.3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370332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状态变化通知导演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393192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Update 末尾 OnStateChanged 调用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4251960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17920" y="4251960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55080" y="42976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§5.4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9768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仅 PLAYING 调 Update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452628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Update 在 PLAYING 分支内调用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4846320"/>
            <a:ext cx="5394960" cy="502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17920" y="4846320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550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§5.5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0" y="489204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Arial"/>
              </a:defRPr>
            </a:pPr>
            <a:r>
              <a:t>阶段切换同步导演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512064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A9E"/>
                </a:solidFill>
                <a:latin typeface="Consolas"/>
              </a:defRPr>
            </a:pPr>
            <a:r>
              <a:t>CheckEnemyPhase 内传入 phaseCtx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CODE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0"/>
                </a:solidFill>
                <a:latin typeface="Arial"/>
              </a:defRPr>
            </a:pPr>
            <a:r>
              <a:t>重构涉及 5 个文件、7 个事件类、事件系统独立于主循环可扩展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514600" cy="137160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A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0"/>
                </a:solidFill>
                <a:latin typeface="Arial"/>
              </a:defRPr>
            </a:pPr>
            <a:r>
              <a:t>修改文件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h / .cpp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71600"/>
            <a:ext cx="2514600" cy="137160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A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4884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0"/>
                </a:solidFill>
                <a:latin typeface="Arial"/>
              </a:defRPr>
            </a:pPr>
            <a:r>
              <a:t>事件类型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1基类+6派生+胜负分离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514600" cy="137160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AA"/>
                </a:solidFill>
                <a:latin typeface="Arial"/>
              </a:defRPr>
            </a:pPr>
            <a:r>
              <a:t>13/13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0"/>
                </a:solidFill>
                <a:latin typeface="Arial"/>
              </a:defRPr>
            </a:pPr>
            <a:r>
              <a:t>验收通过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指南 §1-§8 全项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371600"/>
            <a:ext cx="2514600" cy="137160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AA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4884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0"/>
                </a:solidFill>
                <a:latin typeface="Arial"/>
              </a:defRPr>
            </a:pPr>
            <a:r>
              <a:t>编译错误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3774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x64 Debug MSBuild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017520"/>
            <a:ext cx="10881360" cy="338328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1546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文件变更明细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474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8A9E"/>
                </a:solidFill>
                <a:latin typeface="Consolas"/>
              </a:defRPr>
            </a:pPr>
            <a:r>
              <a:t>文件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474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8A9E"/>
                </a:solidFill>
                <a:latin typeface="Arial"/>
              </a:defRPr>
            </a:pPr>
            <a:r>
              <a:t>类型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47472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8A9E"/>
                </a:solidFill>
                <a:latin typeface="Arial"/>
              </a:defRPr>
            </a:pPr>
            <a:r>
              <a:t>变更内容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3749039"/>
            <a:ext cx="10515600" cy="9144"/>
          </a:xfrm>
          <a:prstGeom prst="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803903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Consolas"/>
              </a:defRPr>
            </a:pPr>
            <a:r>
              <a:t>StageDirector.h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803903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Arial"/>
              </a:defRPr>
            </a:pPr>
            <a:r>
              <a:t>重构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803903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State 完整定义迁入 · GameContext 加 deltaTime · ShouldTrigger const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133087"/>
            <a:ext cx="10515600" cy="9144"/>
          </a:xfrm>
          <a:prstGeom prst="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187951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Consolas"/>
              </a:defRPr>
            </a:pPr>
            <a:r>
              <a:t>StageDirector.cpp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187951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8A9E"/>
                </a:solidFill>
                <a:latin typeface="Arial"/>
              </a:defRPr>
            </a:pPr>
            <a:r>
              <a:t>实现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187951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Update 加状态守卫 · OnStateChanged 完整实现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4517136"/>
            <a:ext cx="10515600" cy="9144"/>
          </a:xfrm>
          <a:prstGeom prst="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5720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Consolas"/>
              </a:defRPr>
            </a:pPr>
            <a:r>
              <a:t>StageEvent.h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5720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Arial"/>
              </a:defRPr>
            </a:pPr>
            <a:r>
              <a:t>重构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57200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7 个事件类声明 · vector&lt;function&gt; 多播 · Bind 链式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901183"/>
            <a:ext cx="10515600" cy="9144"/>
          </a:xfrm>
          <a:prstGeom prst="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956047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Consolas"/>
              </a:defRPr>
            </a:pPr>
            <a:r>
              <a:t>StageEvent.cpp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956047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Arial"/>
              </a:defRPr>
            </a:pPr>
            <a:r>
              <a:t>新建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956047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7 个事件类完整实现 · Broadcast 遍历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5285231"/>
            <a:ext cx="10515600" cy="9144"/>
          </a:xfrm>
          <a:prstGeom prst="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340095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Consolas"/>
              </a:defRPr>
            </a:pPr>
            <a:r>
              <a:t>Game.h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340095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8A9E"/>
                </a:solidFill>
                <a:latin typeface="Arial"/>
              </a:defRPr>
            </a:pPr>
            <a:r>
              <a:t>修改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340095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挂接 StageDirector 成员 · SetupStageEvents 声明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5669279"/>
            <a:ext cx="10515600" cy="9144"/>
          </a:xfrm>
          <a:prstGeom prst="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724143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0"/>
                </a:solidFill>
                <a:latin typeface="Consolas"/>
              </a:defRPr>
            </a:pPr>
            <a:r>
              <a:t>Game.cpp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5724143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8A9E"/>
                </a:solidFill>
                <a:latin typeface="Arial"/>
              </a:defRPr>
            </a:pPr>
            <a:r>
              <a:t>集成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5724143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Arial"/>
              </a:defRPr>
            </a:pPr>
            <a:r>
              <a:t>Update 加 OnStateChanged · CheckEnemyPhase 同步导演 · 信号响应激活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0"/>
                </a:solidFill>
                <a:latin typeface="Arial"/>
              </a:defRPr>
            </a:pPr>
            <a:r>
              <a:t>拥抱现代 C++：std::function 多播委托、const 正确性、智能指针生命周期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237744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53949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4475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Arial"/>
              </a:defRPr>
            </a:pPr>
            <a:r>
              <a:t>多播委托（Multicast Delegate）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▸ std::vector&lt;std::function&lt;void(GameContext&amp;)&gt;&gt; 存储监听者列表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▸ Bind() 返回 *this 支持链式 .Bind(A).Bind(B).Bind(C)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▸ Execute 时 Broadcast 遍历所有监听者，互不干扰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▸ 对比单一回调：同一事件可驱动对话+道具+音效等多个系统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394960" cy="237744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3949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Arial"/>
              </a:defRPr>
            </a:pPr>
            <a:r>
              <a:t>const 正确性（Const Correctness）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▸ ShouldTrigger 声明为 const 查询方法，语义明确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▸ 基类 + 7 派生类全部遵循 const 契约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79"/>
            <a:ext cx="5394960" cy="237744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40479"/>
            <a:ext cx="53949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05071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Arial"/>
              </a:defRPr>
            </a:pPr>
            <a:r>
              <a:t>RAII 与智能指针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348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▸ std::unique_ptr&lt;StageEvent&gt; 表达 StageDirector 对事件的所有权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▸ std::unique_ptr&lt;Player/Enemy/Bullet&gt; 全项目统一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40479"/>
            <a:ext cx="5394960" cy="237744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840479"/>
            <a:ext cx="53949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005071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Arial"/>
              </a:defRPr>
            </a:pPr>
            <a:r>
              <a:t>循环依赖解耦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348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▸ State 枚举从 Game.h 迁至 StageDirector.h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463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Arial"/>
              </a:defRPr>
            </a:pPr>
            <a:r>
              <a:t>▸ Game.h 包含 StageDirector.h 即可获取完整类型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0"/>
                </a:solidFill>
                <a:latin typeface="Arial"/>
              </a:defRPr>
            </a:pPr>
            <a:r>
              <a:t>状态驱动的关卡调度器 — 让关卡流程从 Game.cpp 中解放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383280" cy="182880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Arial"/>
              </a:defRPr>
            </a:pPr>
            <a:r>
              <a:t>◇ 解耦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Game 只提供上下文，StageDirector 管理事件时间线，Game.cpp 不再堆满关卡判断逻辑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373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Arial"/>
              </a:defRPr>
            </a:pPr>
            <a:r>
              <a:t>◆ 可扩展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新增事件类型只需派生 StageEvent + SetupStageEvents 注册，不改主循环一行代码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554480"/>
            <a:ext cx="3383280" cy="182880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17373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Arial"/>
              </a:defRPr>
            </a:pPr>
            <a:r>
              <a:t>◈ 现代 C++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21031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Arial"/>
              </a:defRPr>
            </a:pPr>
            <a:r>
              <a:t>std::function 多播委托、const 正确性、unique_ptr RAII、前向声明解耦循环依赖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10881360" cy="82296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技术栈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onsolas"/>
              </a:defRPr>
            </a:pPr>
            <a:r>
              <a:t>C++17 · SDL2 · SDL_image · SDL_ttf · SDL_mixer · Visual Studio 2022 · MSBuild · x64 Debug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10881360" cy="1645920"/>
          </a:xfrm>
          <a:prstGeom prst="roundRect">
            <a:avLst/>
          </a:prstGeom>
          <a:solidFill>
            <a:srgbClr val="16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项目文件结构（StageDirector 模块）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8523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DF0"/>
                </a:solidFill>
                <a:latin typeface="Consolas"/>
              </a:defRPr>
            </a:pPr>
            <a:r>
              <a:t>touhou_project/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6811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  StageDirector.h    — 导演类 + GameContext + StageEvent 基类 + State 枚举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5099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  StageDirector.cpp  — Update(状态守卫) / OnStateChanged / Reset / AddEvent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3387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  StageEvent.h       — 7 个派生事件类声明（委托模式）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0167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  StageEvent.cpp     — 7 个事件类实现（Broadcast 多播）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19963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  Game.h             — 挂接 stageDirector 成员 + SetupStageEvents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38251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onsolas"/>
              </a:defRPr>
            </a:pPr>
            <a:r>
              <a:t>  Game.cpp           — InitBattle 注册事件 / Update 驱动导演 / 信号响应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